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6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D4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D48"/>
                </a:solidFill>
                <a:latin typeface="Arial"/>
              </a:rPr>
              <a:t>Test Accuracy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D4-421E-B59B-C59B2C17ACCE}"/>
              </c:ext>
            </c:extLst>
          </c:dPt>
          <c:dPt>
            <c:idx val="1"/>
            <c:invertIfNegative val="0"/>
            <c:bubble3D val="0"/>
            <c:spPr>
              <a:solidFill>
                <a:srgbClr val="02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D4-421E-B59B-C59B2C17ACCE}"/>
              </c:ext>
            </c:extLst>
          </c:dPt>
          <c:dPt>
            <c:idx val="2"/>
            <c:invertIfNegative val="0"/>
            <c:bubble3D val="0"/>
            <c:spPr>
              <a:solidFill>
                <a:srgbClr val="03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D4-421E-B59B-C59B2C17ACCE}"/>
              </c:ext>
            </c:extLst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3D4-421E-B59B-C59B2C17ACCE}"/>
              </c:ext>
            </c:extLst>
          </c:dPt>
          <c:dPt>
            <c:idx val="4"/>
            <c:invertIfNegative val="0"/>
            <c:bubble3D val="0"/>
            <c:spPr>
              <a:solidFill>
                <a:srgbClr val="0D4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3D4-421E-B59B-C59B2C17ACC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Diabetes</c:v>
                </c:pt>
                <c:pt idx="1">
                  <c:v>Heart Disease</c:v>
                </c:pt>
                <c:pt idx="2">
                  <c:v>Parkinson's</c:v>
                </c:pt>
                <c:pt idx="3">
                  <c:v>CKD</c:v>
                </c:pt>
                <c:pt idx="4">
                  <c:v>AIDS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77.3</c:v>
                </c:pt>
                <c:pt idx="1">
                  <c:v>83.1</c:v>
                </c:pt>
                <c:pt idx="2">
                  <c:v>89.7</c:v>
                </c:pt>
                <c:pt idx="3">
                  <c:v>95.2</c:v>
                </c:pt>
                <c:pt idx="4">
                  <c:v>86.5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3D4-421E-B59B-C59B2C17AC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D4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D48"/>
                </a:solidFill>
                <a:latin typeface="Arial"/>
              </a:rPr>
              <a:t>ROC-AUC Scores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7F-4A8F-9925-8CE1ED17BA67}"/>
              </c:ext>
            </c:extLst>
          </c:dPt>
          <c:dPt>
            <c:idx val="1"/>
            <c:bubble3D val="0"/>
            <c:spPr>
              <a:solidFill>
                <a:srgbClr val="02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7F-4A8F-9925-8CE1ED17BA67}"/>
              </c:ext>
            </c:extLst>
          </c:dPt>
          <c:dPt>
            <c:idx val="2"/>
            <c:bubble3D val="0"/>
            <c:spPr>
              <a:solidFill>
                <a:srgbClr val="03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7F-4A8F-9925-8CE1ED17BA67}"/>
              </c:ext>
            </c:extLst>
          </c:dPt>
          <c:dPt>
            <c:idx val="3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E7F-4A8F-9925-8CE1ED17BA67}"/>
              </c:ext>
            </c:extLst>
          </c:dPt>
          <c:dPt>
            <c:idx val="4"/>
            <c:bubble3D val="0"/>
            <c:spPr>
              <a:solidFill>
                <a:srgbClr val="0D4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E7F-4A8F-9925-8CE1ED17BA67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7F-4A8F-9925-8CE1ED17BA67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7F-4A8F-9925-8CE1ED17BA67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7F-4A8F-9925-8CE1ED17BA67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E7F-4A8F-9925-8CE1ED17BA67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E7F-4A8F-9925-8CE1ED17BA6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Diabetes</c:v>
                </c:pt>
                <c:pt idx="1">
                  <c:v>Heart Disease</c:v>
                </c:pt>
                <c:pt idx="2">
                  <c:v>Parkinson's</c:v>
                </c:pt>
                <c:pt idx="3">
                  <c:v>CKD</c:v>
                </c:pt>
                <c:pt idx="4">
                  <c:v>AIDS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</c:v>
                </c:pt>
                <c:pt idx="1">
                  <c:v>0.89</c:v>
                </c:pt>
                <c:pt idx="2">
                  <c:v>0.92</c:v>
                </c:pt>
                <c:pt idx="3">
                  <c:v>0.97</c:v>
                </c:pt>
                <c:pt idx="4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E7F-4A8F-9925-8CE1ED17BA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13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926080"/>
            <a:ext cx="2286000" cy="22860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25603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MACHINE LEARNING IN HEALTHCARE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 Prediction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Machine Learning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5029200" cy="2743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Group Members: </a:t>
            </a:r>
            <a:r>
              <a:rPr lang="en-US" sz="1100" dirty="0">
                <a:solidFill>
                  <a:srgbClr val="AECDD8"/>
                </a:solidFill>
              </a:rPr>
              <a:t>2210991961  |  2210991951  |  2210992226  |  2210991576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>
              <a:solidFill>
                <a:srgbClr val="7BAAB8"/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5820" y="4297680"/>
            <a:ext cx="1417320" cy="411480"/>
          </a:xfrm>
          <a:prstGeom prst="roundRect">
            <a:avLst>
              <a:gd name="adj" fmla="val 22222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" y="4297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Diabetes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54580" y="4297680"/>
            <a:ext cx="1417320" cy="411480"/>
          </a:xfrm>
          <a:prstGeom prst="roundRect">
            <a:avLst>
              <a:gd name="adj" fmla="val 22222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4580" y="4297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Heart Disease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63340" y="4297680"/>
            <a:ext cx="1417320" cy="411480"/>
          </a:xfrm>
          <a:prstGeom prst="roundRect">
            <a:avLst>
              <a:gd name="adj" fmla="val 22222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3340" y="4297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Parkinson's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72100" y="4297680"/>
            <a:ext cx="1417320" cy="411480"/>
          </a:xfrm>
          <a:prstGeom prst="roundRect">
            <a:avLst>
              <a:gd name="adj" fmla="val 22222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2100" y="4297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CKD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0860" y="4297680"/>
            <a:ext cx="1417320" cy="411480"/>
          </a:xfrm>
          <a:prstGeom prst="roundRect">
            <a:avLst>
              <a:gd name="adj" fmla="val 22222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0860" y="4297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What We Built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238"/>
                </a:solidFill>
              </a:rPr>
              <a:t>A comprehensive ML-based system for predicting five major diseases — Diabetes, Heart Disease, Parkinson's, CKD, and AIDS.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238"/>
                </a:solidFill>
              </a:rPr>
              <a:t>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63238"/>
                </a:solidFill>
              </a:rPr>
              <a:t>Core Components: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Support Vector Machine (SVM) classifiers trained on publicly available medical datasets.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StandardScaler normalization with 70/30 stratified train-test splits.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Interactive Streamlit web app for real-time predictions from medical inputs.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Serialized models via Pickle for fast inference.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960120"/>
            <a:ext cx="1554480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BBBB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E8EE"/>
                </a:solidFill>
              </a:rPr>
              <a:t>Diseases Covered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60920" y="960120"/>
            <a:ext cx="1554480" cy="1600200"/>
          </a:xfrm>
          <a:prstGeom prst="rect">
            <a:avLst/>
          </a:prstGeom>
          <a:solidFill>
            <a:srgbClr val="0B2D48"/>
          </a:solidFill>
          <a:ln w="12700">
            <a:solidFill>
              <a:srgbClr val="BBBB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6092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77–95%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6092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E8EE"/>
                </a:solidFill>
              </a:rPr>
              <a:t>Accuracy Range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788920"/>
            <a:ext cx="1554480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BBBB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0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E8EE"/>
                </a:solidFill>
              </a:rPr>
              <a:t>Prediction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60920" y="2788920"/>
            <a:ext cx="1554480" cy="1600200"/>
          </a:xfrm>
          <a:prstGeom prst="rect">
            <a:avLst/>
          </a:prstGeom>
          <a:solidFill>
            <a:srgbClr val="0B2D48"/>
          </a:solidFill>
          <a:ln w="12700">
            <a:solidFill>
              <a:srgbClr val="BBBB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6092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60920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E8EE"/>
                </a:solidFill>
              </a:rPr>
              <a:t>Core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737360"/>
          </a:xfrm>
          <a:prstGeom prst="rect">
            <a:avLst/>
          </a:prstGeom>
          <a:solidFill>
            <a:srgbClr val="0E3A5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9436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Build ML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2704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CDD8"/>
                </a:solidFill>
              </a:rPr>
              <a:t>Develop SVM-based classifiers for Diabetes, Heart Disease, Parkinson's, CKD, and AIDS.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14800" cy="1737360"/>
          </a:xfrm>
          <a:prstGeom prst="rect">
            <a:avLst/>
          </a:prstGeom>
          <a:solidFill>
            <a:srgbClr val="0E3A5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59436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6012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Web Application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52704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CDD8"/>
                </a:solidFill>
              </a:rPr>
              <a:t>Create an interactive Streamlit app allowing real-time disease risk prediction from user inputs.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737360"/>
          </a:xfrm>
          <a:prstGeom prst="rect">
            <a:avLst/>
          </a:prstGeom>
          <a:solidFill>
            <a:srgbClr val="0E3A5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9436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Evaluate Performance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44728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CDD8"/>
                </a:solidFill>
              </a:rPr>
              <a:t>Measure model accuracy, ROC-AUC, and confusion matrices to validate clinical relevance.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4114800" cy="1737360"/>
          </a:xfrm>
          <a:prstGeom prst="rect">
            <a:avLst/>
          </a:prstGeom>
          <a:solidFill>
            <a:srgbClr val="0E3A5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80360"/>
            <a:ext cx="59436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88036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Scalable Solution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44728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CDD8"/>
                </a:solidFill>
              </a:rPr>
              <a:t>Deliver a maintainable, unified platform that can be extended to more diseases and algorithms.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All datasets sourced from UCI Machine Learning Repository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Disease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 Source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Samples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</a:rPr>
                        <a:t>Diabetes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Pima Indian Diabetes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768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AD1457"/>
                          </a:solidFill>
                        </a:rPr>
                        <a:t>Heart Disease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Cleveland Heart Disease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303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6A1B9A"/>
                          </a:solidFill>
                        </a:rPr>
                        <a:t>Parkinson's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Parkinson's Disease Dataset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195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695C"/>
                          </a:solidFill>
                        </a:rPr>
                        <a:t>CKD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Chronic Kidney Disease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400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24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</a:rPr>
                        <a:t>AIDS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AIDS Classification Dataset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2344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698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Load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Dataset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00200" y="15544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1368" y="1051560"/>
            <a:ext cx="1234440" cy="10058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01368" y="10698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12801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Clean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Preprocess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35808" y="15544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1051560"/>
            <a:ext cx="123444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36976" y="10698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36976" y="12801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Scale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Features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71416" y="15544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1051560"/>
            <a:ext cx="1234440" cy="100584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10698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2584" y="12801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Train/Test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Split (70/30)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07024" y="15544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08192" y="1051560"/>
            <a:ext cx="12344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08192" y="10698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08192" y="12801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Train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SVM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42632" y="15544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051560"/>
            <a:ext cx="123444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43800" y="10698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12801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Evaluate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&amp; Save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2331720"/>
            <a:ext cx="8412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Why SVM?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94360" y="288036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Effective in high-dimensional feature spaces — ideal for medical datasets with many biomarkers.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Robust to overfitting with small to medium sample sizes through maximum-margin hyperplanes.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Strong performance in binary and multi-class classification problems in clinical literature.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</a:rPr>
              <a:t>Interpretable decision boundaries, supporting transparent healthcare diagnostics.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1783080"/>
          </a:xfrm>
          <a:prstGeom prst="rect">
            <a:avLst/>
          </a:prstGeom>
          <a:solidFill>
            <a:srgbClr val="0E3A55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565C0"/>
                </a:solidFill>
              </a:rPr>
              <a:t>LANGUAGE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C4D4"/>
                </a:solidFill>
              </a:rPr>
              <a:t>Core language for all ML training, preprocessing, and model management.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651760" cy="1783080"/>
          </a:xfrm>
          <a:prstGeom prst="rect">
            <a:avLst/>
          </a:prstGeom>
          <a:solidFill>
            <a:srgbClr val="0E3A5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6012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97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28090"/>
                </a:solidFill>
              </a:rPr>
              <a:t>ML LIBRARY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46120" y="1307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6916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C4D4"/>
                </a:solidFill>
              </a:rPr>
              <a:t>SVM classifier, StandardScaler, train_test_split, evaluation metrics.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960120"/>
            <a:ext cx="2651760" cy="1783080"/>
          </a:xfrm>
          <a:prstGeom prst="rect">
            <a:avLst/>
          </a:prstGeom>
          <a:solidFill>
            <a:srgbClr val="0E3A55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960120"/>
            <a:ext cx="265176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97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A1B9A"/>
                </a:solidFill>
              </a:rPr>
              <a:t>DATA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307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&amp; numpy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16916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C4D4"/>
                </a:solidFill>
              </a:rPr>
              <a:t>Dataset loading, cleaning, missing value handling, and array ops.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51760" cy="1783080"/>
          </a:xfrm>
          <a:prstGeom prst="rect">
            <a:avLst/>
          </a:prstGeom>
          <a:solidFill>
            <a:srgbClr val="0E3A55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26080"/>
            <a:ext cx="2651760" cy="6400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63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D1457"/>
                </a:solidFill>
              </a:rPr>
              <a:t>WEB APP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273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C4D4"/>
                </a:solidFill>
              </a:rPr>
              <a:t>Interactive web interface with sidebar navigation and real-time predictions.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2651760" cy="1783080"/>
          </a:xfrm>
          <a:prstGeom prst="rect">
            <a:avLst/>
          </a:prstGeom>
          <a:solidFill>
            <a:srgbClr val="0E3A55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26080"/>
            <a:ext cx="265176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063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2E7D32"/>
                </a:solidFill>
              </a:rPr>
              <a:t>SERIALIZATION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46120" y="3273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46120" y="36576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C4D4"/>
                </a:solidFill>
              </a:rPr>
              <a:t>Save and load trained models as .sav files for production inference.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2926080"/>
            <a:ext cx="2651760" cy="1783080"/>
          </a:xfrm>
          <a:prstGeom prst="rect">
            <a:avLst/>
          </a:prstGeom>
          <a:solidFill>
            <a:srgbClr val="0E3A55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2926080"/>
            <a:ext cx="265176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063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65100"/>
                </a:solidFill>
              </a:rPr>
              <a:t>VISUALIZATION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80760" y="3273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80760" y="36576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C4D4"/>
                </a:solidFill>
              </a:rPr>
              <a:t>ROC-AUC curves and performance charts for model evaluation.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Results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0292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577840" y="960120"/>
          <a:ext cx="32918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2471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D48"/>
                </a:solidFill>
              </a:rPr>
              <a:t>CKD 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8928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46E7A"/>
                </a:solidFill>
              </a:rPr>
              <a:t>Highest accuracy achieved — the rich 24-feature dataset and clear clinical markers produced near-perfect classification.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73152" cy="178308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12471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7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65192" y="1627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D48"/>
                </a:solidFill>
              </a:rPr>
              <a:t>Diabetes 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5192" y="18928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46E7A"/>
                </a:solidFill>
              </a:rPr>
              <a:t>Lowest accuracy but clinically relevant, reflecting the inherent complexity of diabetes prediction from 8 biomarkers.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73152" cy="1783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906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30352" y="3593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D48"/>
                </a:solidFill>
              </a:rPr>
              <a:t>Best ROC-AUC (CKD)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8587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46E7A"/>
                </a:solidFill>
              </a:rPr>
              <a:t>Near-perfect discriminative power — the model reliably distinguishes positive from negative CKD cases.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26080"/>
            <a:ext cx="73152" cy="1783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0906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965192" y="3593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D48"/>
                </a:solidFill>
              </a:rPr>
              <a:t>Inference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5192" y="38587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46E7A"/>
                </a:solidFill>
              </a:rPr>
              <a:t>All predictions delivered in under one second, enabling smooth real-time usage in the Streamlit web 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D1457"/>
                </a:solidFill>
              </a:rPr>
              <a:t>⚠ 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</a:rPr>
              <a:t>Models trained on specific datasets — may not generalize to all populations.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</a:rPr>
              <a:t>No hyperparameter tuning or ensemble methods applied.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</a:rPr>
              <a:t>Limited feature engineering performed on raw biomarker data.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</a:rPr>
              <a:t>Web app lacks user authentication and persistent data storage.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</a:rPr>
              <a:t>Dataset sizes are relatively small for deep learning approaches.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🚀  Future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508760"/>
            <a:ext cx="36576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</a:rPr>
              <a:t>Integrate XGBoost, Random Forest, and Neural Network models.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</a:rPr>
              <a:t>Add feature importance visualizations and SHAP explanations.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</a:rPr>
              <a:t>Expand to additional diseases with larger, diverse datasets.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</a:rPr>
              <a:t>Implement hyperparameter tuning using GridSearchCV.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</a:rPr>
              <a:t>Develop a mobile application and EHR system integration.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118872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B0D4E0"/>
                </a:solidFill>
              </a:rPr>
              <a:t>This project successfully demonstrates the power of machine learning in multi-disease prediction. By deploying SVM classifiers on five medical datasets and wrapping them in an accessible Streamlit interface, we achieved accuracy rates from 77% to 95% — proving that AI can meaningfully assist in early disease risk assessment.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1645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803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 ML Models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2880360"/>
            <a:ext cx="1645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28803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77–95%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880360"/>
            <a:ext cx="1645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8803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2880360"/>
            <a:ext cx="1645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28803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Unified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160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AAB8"/>
                </a:solidFill>
              </a:rPr>
              <a:t>Questions &amp; Discussion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PresentationFormat>On-screen Show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Prediction Using Machine Learning</dc:title>
  <dc:subject>PptxGenJS Presentation</dc:subject>
  <dc:creator>Group Project</dc:creator>
  <cp:lastModifiedBy>navam sharma</cp:lastModifiedBy>
  <cp:revision>2</cp:revision>
  <dcterms:created xsi:type="dcterms:W3CDTF">2026-04-28T04:49:50Z</dcterms:created>
  <dcterms:modified xsi:type="dcterms:W3CDTF">2026-04-28T04:53:33Z</dcterms:modified>
</cp:coreProperties>
</file>